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28" d="100"/>
          <a:sy n="328" d="100"/>
        </p:scale>
        <p:origin x="-5320" y="-4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872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5" name="Image 0" descr="/sessions/intelligent-sleepy-mccarthy/icons/FaRobot_#22D3EE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229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5448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Customer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Analysis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NLP Pipeline for Sentiment Classification,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Clustering &amp; AI-Generated Summaries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122B4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640080" y="44988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Chandler Shortlidge  |  Data Science &amp; AI Bootcamp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200400" cy="2560320"/>
          </a:xfrm>
          <a:prstGeom prst="rect">
            <a:avLst/>
          </a:prstGeom>
          <a:solidFill>
            <a:srgbClr val="0B1D3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28,332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reviews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24 data columns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Datafiniti / Kaggle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1188720"/>
            <a:ext cx="45720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4206240" y="1188720"/>
            <a:ext cx="64008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4434840" y="11887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analysis doesn't scale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1965960"/>
            <a:ext cx="45720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4206240" y="1965960"/>
            <a:ext cx="64008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4434840" y="19659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way to categorize products across categories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06240" y="2743200"/>
            <a:ext cx="45720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4206240" y="2743200"/>
            <a:ext cx="64008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4434840" y="27432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need quick, reliable summaries to make purchase decisions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06240" y="3611880"/>
            <a:ext cx="4572000" cy="6858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8" name="Image 0" descr="/sessions/intelligent-sleepy-mccarthy/icons/FaLightbulb_#FFFFFF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730752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846320" y="361188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Automate the entire pipeline from raw reviews to actionable insights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 Analysis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3774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377440" cy="6400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6" name="Image 0" descr="/sessions/intelligent-sleepy-mccarthy/icons/FaDatabase_#065A82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4173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Preprocessing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28,332 reviews</a:t>
            </a:r>
            <a:endParaRPr lang="en-US" sz="1000" dirty="0"/>
          </a:p>
        </p:txBody>
      </p:sp>
      <p:pic>
        <p:nvPicPr>
          <p:cNvPr id="9" name="Image 1" descr="/sessions/intelligent-sleepy-mccarthy/icons/FaArrowRight_#94A3B8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1783080"/>
            <a:ext cx="320040" cy="320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37560" y="1188720"/>
            <a:ext cx="23774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Shape 7"/>
          <p:cNvSpPr/>
          <p:nvPr/>
        </p:nvSpPr>
        <p:spPr>
          <a:xfrm>
            <a:off x="3337560" y="1188720"/>
            <a:ext cx="237744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2" name="Image 2" descr="/sessions/intelligent-sleepy-mccarthy/icons/FaStar_#0891B2_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141732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3756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Labeling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33756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 → classes</a:t>
            </a:r>
            <a:endParaRPr lang="en-US" sz="1000" dirty="0"/>
          </a:p>
        </p:txBody>
      </p:sp>
      <p:pic>
        <p:nvPicPr>
          <p:cNvPr id="15" name="Image 3" descr="/sessions/intelligent-sleepy-mccarthy/icons/FaArrowRight_#94A3B8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783080"/>
            <a:ext cx="320040" cy="3200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17920" y="1188720"/>
            <a:ext cx="23774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1"/>
          <p:cNvSpPr/>
          <p:nvPr/>
        </p:nvSpPr>
        <p:spPr>
          <a:xfrm>
            <a:off x="6217920" y="1188720"/>
            <a:ext cx="2377440" cy="6400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8" name="Image 4" descr="/sessions/intelligent-sleepy-mccarthy/icons/FaChartBar_#22D3EE_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417320"/>
            <a:ext cx="502920" cy="5029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1792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Balancing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21792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1,206 per class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457200" y="301752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2" name="Shape 15"/>
          <p:cNvSpPr/>
          <p:nvPr/>
        </p:nvSpPr>
        <p:spPr>
          <a:xfrm>
            <a:off x="457200" y="3017520"/>
            <a:ext cx="237744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3" name="Image 5" descr="/sessions/intelligent-sleepy-mccarthy/icons/FaBrain_#0891B2_25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880" y="3200400"/>
            <a:ext cx="502920" cy="5029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5720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Fine-Tune &amp;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45720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(83%)</a:t>
            </a:r>
            <a:endParaRPr lang="en-US" sz="1000" dirty="0"/>
          </a:p>
        </p:txBody>
      </p:sp>
      <p:pic>
        <p:nvPicPr>
          <p:cNvPr id="26" name="Image 6" descr="/sessions/intelligent-sleepy-mccarthy/icons/FaArrowRight_#94A3B8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3566160"/>
            <a:ext cx="320040" cy="32004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3337560" y="301752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8" name="Shape 19"/>
          <p:cNvSpPr/>
          <p:nvPr/>
        </p:nvSpPr>
        <p:spPr>
          <a:xfrm>
            <a:off x="3337560" y="3017520"/>
            <a:ext cx="2377440" cy="6400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9" name="Image 7" descr="/sessions/intelligent-sleepy-mccarthy/icons/FaLayerGroup_#065A82_25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6240" y="3200400"/>
            <a:ext cx="502920" cy="50292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333756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Category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333756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/ Qwen 2.5</a:t>
            </a:r>
            <a:endParaRPr lang="en-US" sz="1000" dirty="0"/>
          </a:p>
        </p:txBody>
      </p:sp>
      <p:pic>
        <p:nvPicPr>
          <p:cNvPr id="32" name="Image 8" descr="/sessions/intelligent-sleepy-mccarthy/icons/FaArrowRight_#94A3B8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566160"/>
            <a:ext cx="320040" cy="32004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6217920" y="301752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4" name="Shape 23"/>
          <p:cNvSpPr/>
          <p:nvPr/>
        </p:nvSpPr>
        <p:spPr>
          <a:xfrm>
            <a:off x="6217920" y="3017520"/>
            <a:ext cx="237744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5" name="Image 9" descr="/sessions/intelligent-sleepy-mccarthy/icons/FaPen_#0891B2_25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3200400"/>
            <a:ext cx="502920" cy="50292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21792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Blog Post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37" name="Text 25"/>
          <p:cNvSpPr/>
          <p:nvPr/>
        </p:nvSpPr>
        <p:spPr>
          <a:xfrm>
            <a:off x="621792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2.5</a:t>
            </a:r>
            <a:endParaRPr lang="en-US" sz="1000" dirty="0"/>
          </a:p>
        </p:txBody>
      </p:sp>
      <p:sp>
        <p:nvSpPr>
          <p:cNvPr id="38" name="Text 26"/>
          <p:cNvSpPr/>
          <p:nvPr/>
        </p:nvSpPr>
        <p:spPr>
          <a:xfrm>
            <a:off x="6400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 Analysis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Preprocessing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Details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Datafiniti / Kaggle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28,332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(ratings, text, product info)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926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Subset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3,618 reviews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1,206 samples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09728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4663440" y="1097280"/>
            <a:ext cx="411480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489204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Mapping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1737360"/>
            <a:ext cx="1097280" cy="64008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4892040" y="1737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011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1737360"/>
            <a:ext cx="1097280" cy="64008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6172200" y="1737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2011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52360" y="1737360"/>
            <a:ext cx="1097280" cy="64008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7452360" y="1737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52360" y="2011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31113" y="2775204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0" name="Shape 28"/>
          <p:cNvSpPr/>
          <p:nvPr/>
        </p:nvSpPr>
        <p:spPr>
          <a:xfrm>
            <a:off x="4663440" y="2743200"/>
            <a:ext cx="411480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1" name="Text 29"/>
          <p:cNvSpPr/>
          <p:nvPr/>
        </p:nvSpPr>
        <p:spPr>
          <a:xfrm>
            <a:off x="489204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Balancing (Downsampling)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9204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57698" y="3322883"/>
            <a:ext cx="2194560" cy="65353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4" name="Text 32"/>
          <p:cNvSpPr/>
          <p:nvPr/>
        </p:nvSpPr>
        <p:spPr>
          <a:xfrm>
            <a:off x="7969159" y="3291840"/>
            <a:ext cx="548640" cy="11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25,500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760883" y="3409080"/>
            <a:ext cx="274320" cy="77847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6" name="Text 34"/>
          <p:cNvSpPr/>
          <p:nvPr/>
        </p:nvSpPr>
        <p:spPr>
          <a:xfrm>
            <a:off x="6065299" y="3324909"/>
            <a:ext cx="548640" cy="22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1,580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759912" y="3500960"/>
            <a:ext cx="182880" cy="65353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8" name="Text 36"/>
          <p:cNvSpPr/>
          <p:nvPr/>
        </p:nvSpPr>
        <p:spPr>
          <a:xfrm>
            <a:off x="5972888" y="340459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9204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757698" y="4016906"/>
            <a:ext cx="502920" cy="65353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1" name="Shape 39"/>
          <p:cNvSpPr/>
          <p:nvPr/>
        </p:nvSpPr>
        <p:spPr>
          <a:xfrm>
            <a:off x="5757698" y="4101891"/>
            <a:ext cx="502920" cy="65353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2" name="Shape 40"/>
          <p:cNvSpPr/>
          <p:nvPr/>
        </p:nvSpPr>
        <p:spPr>
          <a:xfrm>
            <a:off x="5760720" y="4188050"/>
            <a:ext cx="502920" cy="65353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3" name="Text 41"/>
          <p:cNvSpPr/>
          <p:nvPr/>
        </p:nvSpPr>
        <p:spPr>
          <a:xfrm>
            <a:off x="6296962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1,206 each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400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 Analysis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1: Sentiment Classification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solidFill>
            <a:srgbClr val="0B1D3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pic>
        <p:nvPicPr>
          <p:cNvPr id="5" name="Image 0" descr="/sessions/intelligent-sleepy-mccarthy/icons/FaBrain_#22D3EE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Fine-Tuned RoBERTa-base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1920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balanced Amazon reviews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epochs, batch size 16 (Google Colab)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output: Negative / Neutral / Positive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70/30 train-test split (2,532 / 1,086)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Shape 6"/>
          <p:cNvSpPr/>
          <p:nvPr/>
        </p:nvSpPr>
        <p:spPr>
          <a:xfrm>
            <a:off x="4846320" y="1097280"/>
            <a:ext cx="393192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7"/>
          <p:cNvSpPr/>
          <p:nvPr/>
        </p:nvSpPr>
        <p:spPr>
          <a:xfrm>
            <a:off x="502920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 Results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645920"/>
          <a:ext cx="3657600" cy="10972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3200400"/>
            <a:ext cx="2286000" cy="1188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9"/>
          <p:cNvSpPr/>
          <p:nvPr/>
        </p:nvSpPr>
        <p:spPr>
          <a:xfrm>
            <a:off x="457200" y="3246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83%</a:t>
            </a:r>
            <a:endParaRPr lang="en-US" sz="4800" dirty="0"/>
          </a:p>
        </p:txBody>
      </p:sp>
      <p:sp>
        <p:nvSpPr>
          <p:cNvPr id="14" name="Text 10"/>
          <p:cNvSpPr/>
          <p:nvPr/>
        </p:nvSpPr>
        <p:spPr>
          <a:xfrm>
            <a:off x="45720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017520" y="3200400"/>
            <a:ext cx="5760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2"/>
          <p:cNvSpPr/>
          <p:nvPr/>
        </p:nvSpPr>
        <p:spPr>
          <a:xfrm>
            <a:off x="3017520" y="3200400"/>
            <a:ext cx="64008" cy="1188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3"/>
          <p:cNvSpPr/>
          <p:nvPr/>
        </p:nvSpPr>
        <p:spPr>
          <a:xfrm>
            <a:off x="329184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291840" y="35661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model scored only 64% — fine-tuning boosted accuracy to 83%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class improved from F1 0.35 to 0.75 after domain-specific training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class: strongest performance (F1: 0.90, recall: 0.91)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400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 Analysis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2: Product Category Clustering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840480" cy="77724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64008" cy="7772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6" name="Image 0" descr="/sessions/intelligent-sleepy-mccarthy/icons/FaExclamationTriangle_#EF4444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515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05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Attempt 1: Embeddings + K-Means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156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were noisy and overlapping — did not produce clean categories</a:t>
            </a:r>
            <a:endParaRPr lang="en-US" sz="900" dirty="0"/>
          </a:p>
        </p:txBody>
      </p:sp>
      <p:pic>
        <p:nvPicPr>
          <p:cNvPr id="9" name="Image 1" descr="/sessions/intelligent-sleepy-mccarthy/icons/FaArrowRight_#64748B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188720"/>
            <a:ext cx="320040" cy="320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846320" y="960120"/>
            <a:ext cx="3931920" cy="77724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Shape 7"/>
          <p:cNvSpPr/>
          <p:nvPr/>
        </p:nvSpPr>
        <p:spPr>
          <a:xfrm>
            <a:off x="4846320" y="960120"/>
            <a:ext cx="64008" cy="777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2" name="Image 2" descr="/sessions/intelligent-sleepy-mccarthy/icons/FaCheckCircle_#10B981_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0515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4068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Solution: Local LLM Classification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44068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/ Qwen 2.5 classified each product into clean categories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57200" y="210312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1"/>
          <p:cNvSpPr/>
          <p:nvPr/>
        </p:nvSpPr>
        <p:spPr>
          <a:xfrm>
            <a:off x="457200" y="2103120"/>
            <a:ext cx="64008" cy="10972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Shape 12"/>
          <p:cNvSpPr/>
          <p:nvPr/>
        </p:nvSpPr>
        <p:spPr>
          <a:xfrm>
            <a:off x="640080" y="228600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3"/>
          <p:cNvSpPr/>
          <p:nvPr/>
        </p:nvSpPr>
        <p:spPr>
          <a:xfrm>
            <a:off x="105156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Electronics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8580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Audio, video, smart home, cameras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91840" y="210312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1" name="Shape 16"/>
          <p:cNvSpPr/>
          <p:nvPr/>
        </p:nvSpPr>
        <p:spPr>
          <a:xfrm>
            <a:off x="3291840" y="2103120"/>
            <a:ext cx="64008" cy="10972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Shape 17"/>
          <p:cNvSpPr/>
          <p:nvPr/>
        </p:nvSpPr>
        <p:spPr>
          <a:xfrm>
            <a:off x="3474720" y="22860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Text 18"/>
          <p:cNvSpPr/>
          <p:nvPr/>
        </p:nvSpPr>
        <p:spPr>
          <a:xfrm>
            <a:off x="388620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Tablets &amp; E-readers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52044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tablets, Kindle devices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126480" y="210312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6" name="Shape 21"/>
          <p:cNvSpPr/>
          <p:nvPr/>
        </p:nvSpPr>
        <p:spPr>
          <a:xfrm>
            <a:off x="6126480" y="2103120"/>
            <a:ext cx="64008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Shape 22"/>
          <p:cNvSpPr/>
          <p:nvPr/>
        </p:nvSpPr>
        <p:spPr>
          <a:xfrm>
            <a:off x="6309360" y="228600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8" name="Text 23"/>
          <p:cNvSpPr/>
          <p:nvPr/>
        </p:nvSpPr>
        <p:spPr>
          <a:xfrm>
            <a:off x="672084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&amp; Beauty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35508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Batteries, personal care, health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57200" y="342900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1" name="Shape 26"/>
          <p:cNvSpPr/>
          <p:nvPr/>
        </p:nvSpPr>
        <p:spPr>
          <a:xfrm>
            <a:off x="457200" y="3429000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2" name="Shape 27"/>
          <p:cNvSpPr/>
          <p:nvPr/>
        </p:nvSpPr>
        <p:spPr>
          <a:xfrm>
            <a:off x="640080" y="361188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3" name="Text 28"/>
          <p:cNvSpPr/>
          <p:nvPr/>
        </p:nvSpPr>
        <p:spPr>
          <a:xfrm>
            <a:off x="105156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 &amp; Kitchen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8580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appliances, storage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3291840" y="342900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6" name="Shape 31"/>
          <p:cNvSpPr/>
          <p:nvPr/>
        </p:nvSpPr>
        <p:spPr>
          <a:xfrm>
            <a:off x="3291840" y="3429000"/>
            <a:ext cx="64008" cy="10972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7" name="Shape 32"/>
          <p:cNvSpPr/>
          <p:nvPr/>
        </p:nvSpPr>
        <p:spPr>
          <a:xfrm>
            <a:off x="3474720" y="361188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8" name="Text 33"/>
          <p:cNvSpPr/>
          <p:nvPr/>
        </p:nvSpPr>
        <p:spPr>
          <a:xfrm>
            <a:off x="38862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Office Supplies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352044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stands, desk accessories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6126480" y="342900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1" name="Shape 36"/>
          <p:cNvSpPr/>
          <p:nvPr/>
        </p:nvSpPr>
        <p:spPr>
          <a:xfrm>
            <a:off x="6126480" y="3429000"/>
            <a:ext cx="64008" cy="10972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2" name="Shape 37"/>
          <p:cNvSpPr/>
          <p:nvPr/>
        </p:nvSpPr>
        <p:spPr>
          <a:xfrm>
            <a:off x="6309360" y="361188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3" name="Text 38"/>
          <p:cNvSpPr/>
          <p:nvPr/>
        </p:nvSpPr>
        <p:spPr>
          <a:xfrm>
            <a:off x="672084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Pet Supplies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635508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crates, cat litter, pet items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6400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 Analysis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3: AI Blog Post Generation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640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</a:t>
            </a:r>
            <a:endParaRPr lang="en-US" sz="1600" dirty="0"/>
          </a:p>
        </p:txBody>
      </p:sp>
      <p:pic>
        <p:nvPicPr>
          <p:cNvPr id="7" name="Image 0" descr="/sessions/intelligent-sleepy-mccarthy/icons/FaCog_#0891B2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LLM: Ollama / Qwen 2.5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2240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the 6 categories, the model generates: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with ratings &amp; review counts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features, pros, and cons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complaints from reviews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product &amp; reasons to avoid it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097280"/>
            <a:ext cx="3931920" cy="3474720"/>
          </a:xfrm>
          <a:prstGeom prst="rect">
            <a:avLst/>
          </a:prstGeom>
          <a:solidFill>
            <a:srgbClr val="0B1D3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pic>
        <p:nvPicPr>
          <p:cNvPr id="11" name="Image 1" descr="/sessions/intelligent-sleepy-mccarthy/icons/FaQuoteLeft_#22D3EE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2801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Output: Electronics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74920" y="17830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Fire HD 8 remains a strong contender in the budget tablet market. With an average rating of 4.2 across hundreds of reviews, users consistently praise its value proposition..."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7492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for all 6 categories: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74920" y="3383280"/>
            <a:ext cx="1051560" cy="32004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2"/>
          <p:cNvSpPr/>
          <p:nvPr/>
        </p:nvSpPr>
        <p:spPr>
          <a:xfrm>
            <a:off x="5074920" y="33832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217920" y="3383280"/>
            <a:ext cx="1051560" cy="320040"/>
          </a:xfrm>
          <a:prstGeom prst="rect">
            <a:avLst/>
          </a:prstGeom>
          <a:solidFill>
            <a:srgbClr val="8B5CF6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4"/>
          <p:cNvSpPr/>
          <p:nvPr/>
        </p:nvSpPr>
        <p:spPr>
          <a:xfrm>
            <a:off x="6217920" y="33832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360920" y="3383280"/>
            <a:ext cx="1051560" cy="32004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Text 16"/>
          <p:cNvSpPr/>
          <p:nvPr/>
        </p:nvSpPr>
        <p:spPr>
          <a:xfrm>
            <a:off x="7360920" y="33832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074920" y="3794760"/>
            <a:ext cx="1051560" cy="32004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Text 18"/>
          <p:cNvSpPr/>
          <p:nvPr/>
        </p:nvSpPr>
        <p:spPr>
          <a:xfrm>
            <a:off x="5074920" y="37947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217920" y="3794760"/>
            <a:ext cx="1051560" cy="320040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Text 20"/>
          <p:cNvSpPr/>
          <p:nvPr/>
        </p:nvSpPr>
        <p:spPr>
          <a:xfrm>
            <a:off x="6217920" y="37947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7360920" y="3794760"/>
            <a:ext cx="1051560" cy="320040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Text 22"/>
          <p:cNvSpPr/>
          <p:nvPr/>
        </p:nvSpPr>
        <p:spPr>
          <a:xfrm>
            <a:off x="7360920" y="37947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400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 Analysis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411480"/>
          </a:xfrm>
          <a:prstGeom prst="rect">
            <a:avLst/>
          </a:prstGeom>
          <a:solidFill>
            <a:srgbClr val="1A35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822960" y="1188720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1097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pandas, numpy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7863840" cy="411480"/>
          </a:xfrm>
          <a:prstGeom prst="rect">
            <a:avLst/>
          </a:prstGeom>
          <a:solidFill>
            <a:srgbClr val="1A35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822960" y="1691640"/>
            <a:ext cx="228600" cy="2286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118872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matplotlib, seaborn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103120"/>
            <a:ext cx="7863840" cy="411480"/>
          </a:xfrm>
          <a:prstGeom prst="rect">
            <a:avLst/>
          </a:prstGeom>
          <a:solidFill>
            <a:srgbClr val="1A35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822960" y="219456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118872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Fine-tuned RoBERTa-base (HuggingFace)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solidFill>
            <a:srgbClr val="1A35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822960" y="2697480"/>
            <a:ext cx="228600" cy="22860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118872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 Trainer, Google Colab GPU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108960"/>
            <a:ext cx="7863840" cy="411480"/>
          </a:xfrm>
          <a:prstGeom prst="rect">
            <a:avLst/>
          </a:prstGeom>
          <a:solidFill>
            <a:srgbClr val="1A35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822960" y="320040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118872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Classification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3108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/ Qwen 2.5 (local LLM)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611880"/>
            <a:ext cx="7863840" cy="411480"/>
          </a:xfrm>
          <a:prstGeom prst="rect">
            <a:avLst/>
          </a:prstGeom>
          <a:solidFill>
            <a:srgbClr val="1A35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Shape 23"/>
          <p:cNvSpPr/>
          <p:nvPr/>
        </p:nvSpPr>
        <p:spPr>
          <a:xfrm>
            <a:off x="822960" y="370332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Text 24"/>
          <p:cNvSpPr/>
          <p:nvPr/>
        </p:nvSpPr>
        <p:spPr>
          <a:xfrm>
            <a:off x="1188720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Blog Generation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0" y="3611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/ Qwen 2.5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114800"/>
            <a:ext cx="7863840" cy="411480"/>
          </a:xfrm>
          <a:prstGeom prst="rect">
            <a:avLst/>
          </a:prstGeom>
          <a:solidFill>
            <a:srgbClr val="1A355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822960" y="420624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118872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0" y="4114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 classification_report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 Analysis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Learnings</a:t>
            </a:r>
            <a:endParaRPr lang="en-US" sz="3400" dirty="0"/>
          </a:p>
        </p:txBody>
      </p:sp>
      <p:pic>
        <p:nvPicPr>
          <p:cNvPr id="4" name="Image 0" descr="/sessions/intelligent-sleepy-mccarthy/icons/FaExclamationTriangle_#F59E0B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5"/>
          <p:cNvSpPr/>
          <p:nvPr/>
        </p:nvSpPr>
        <p:spPr>
          <a:xfrm>
            <a:off x="68580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Clustering Failed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K-Means produced noisy, overlapping clusters that weren't usable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56032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9"/>
          <p:cNvSpPr/>
          <p:nvPr/>
        </p:nvSpPr>
        <p:spPr>
          <a:xfrm>
            <a:off x="68580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Pre-Trained Model Gap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RoBERTa scored only 64% — neutral class recall was just 0.26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56616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Shape 12"/>
          <p:cNvSpPr/>
          <p:nvPr/>
        </p:nvSpPr>
        <p:spPr>
          <a:xfrm>
            <a:off x="457200" y="356616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3"/>
          <p:cNvSpPr/>
          <p:nvPr/>
        </p:nvSpPr>
        <p:spPr>
          <a:xfrm>
            <a:off x="68580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Overlap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3931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span multiple categories; automated clustering couldn't resolve them</a:t>
            </a:r>
            <a:endParaRPr lang="en-US" sz="1000" dirty="0"/>
          </a:p>
        </p:txBody>
      </p:sp>
      <p:pic>
        <p:nvPicPr>
          <p:cNvPr id="18" name="Image 1" descr="/sessions/intelligent-sleepy-mccarthy/icons/FaCheckCircle_#10B981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5156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1208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Learnings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4663440" y="155448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1" name="Shape 17"/>
          <p:cNvSpPr/>
          <p:nvPr/>
        </p:nvSpPr>
        <p:spPr>
          <a:xfrm>
            <a:off x="4663440" y="1554480"/>
            <a:ext cx="64008" cy="868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Text 18"/>
          <p:cNvSpPr/>
          <p:nvPr/>
        </p:nvSpPr>
        <p:spPr>
          <a:xfrm>
            <a:off x="48920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 Pays Off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89204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fine-tuning boosted accuracy from 64% to 83% — especially on neutral class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663440" y="256032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5" name="Shape 21"/>
          <p:cNvSpPr/>
          <p:nvPr/>
        </p:nvSpPr>
        <p:spPr>
          <a:xfrm>
            <a:off x="4663440" y="2560320"/>
            <a:ext cx="64008" cy="868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Text 22"/>
          <p:cNvSpPr/>
          <p:nvPr/>
        </p:nvSpPr>
        <p:spPr>
          <a:xfrm>
            <a:off x="48920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LLMs as Classifiers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89204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K-Means failed, Ollama/Qwen 2.5 successfully classified products into clean categories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663440" y="356616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9" name="Shape 25"/>
          <p:cNvSpPr/>
          <p:nvPr/>
        </p:nvSpPr>
        <p:spPr>
          <a:xfrm>
            <a:off x="4663440" y="3566160"/>
            <a:ext cx="64008" cy="868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0" name="Text 26"/>
          <p:cNvSpPr/>
          <p:nvPr/>
        </p:nvSpPr>
        <p:spPr>
          <a:xfrm>
            <a:off x="489204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Iterative Problem-Solving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892040" y="3931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failure informed a better approach — the final pipeline combines multiple AI techniques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400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 Analysis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Improvements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690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64008" cy="1417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Aspect-Level Sentiment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beyond overall sentiment to detect per-feature opinions (e.g. battery life, screen quality) within each review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0690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4800600" y="1097280"/>
            <a:ext cx="64008" cy="14173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4983480" y="123444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49834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 Dataset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7373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reviews from multiple platforms (Best Buy, Walmart) for broader product coverage and more robust models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40690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64008" cy="14173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64008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Pipeline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4290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live service that continuously ingests new reviews and updates recommendations automatically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788920"/>
            <a:ext cx="40690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4800600" y="2788920"/>
            <a:ext cx="64008" cy="1417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4983480" y="292608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498348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3212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User-Facing Dashboard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34290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web app where users can explore sentiment trends and product comparisons visually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solidFill>
            <a:srgbClr val="122B4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Chandler Shortlidge  |  chandlershortlidge@gmail.com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Review Analysis  |  NLP Pipeline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763</Words>
  <Application>Microsoft Macintosh PowerPoint</Application>
  <PresentationFormat>On-screen Show (16:9)</PresentationFormat>
  <Paragraphs>199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Customer Review Analysis</dc:title>
  <dc:subject>PptxGenJS Presentation</dc:subject>
  <dc:creator>Chandler Shortlidge</dc:creator>
  <cp:lastModifiedBy>Chandler Shortlidge</cp:lastModifiedBy>
  <cp:revision>4</cp:revision>
  <dcterms:created xsi:type="dcterms:W3CDTF">2026-02-27T08:05:41Z</dcterms:created>
  <dcterms:modified xsi:type="dcterms:W3CDTF">2026-02-27T08:35:47Z</dcterms:modified>
</cp:coreProperties>
</file>